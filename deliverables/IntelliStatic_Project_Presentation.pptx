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8620053edc4599" /><Relationship Type="http://schemas.openxmlformats.org/officeDocument/2006/relationships/extended-properties" Target="/docProps/app.xml" Id="Ra22d1ea221a141f1" /><Relationship Type="http://schemas.openxmlformats.org/officeDocument/2006/relationships/officeDocument" Target="/ppt/presentation.xml" Id="Rff0cdf77f7d1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68eb8356e49ee"/>
  </p:sldMasterIdLst>
  <p:notesMasterIdLst>
    <p:notesMasterId xmlns:r="http://schemas.openxmlformats.org/officeDocument/2006/relationships" r:id="R8b9f42983e824276"/>
  </p:notesMasterIdLst>
  <p:sldIdLst>
    <p:sldId xmlns:r="http://schemas.openxmlformats.org/officeDocument/2006/relationships" id="256" r:id="Rc5d7dd1ba5274a16"/>
    <p:sldId xmlns:r="http://schemas.openxmlformats.org/officeDocument/2006/relationships" id="257" r:id="Rb034b255fb074e99"/>
    <p:sldId xmlns:r="http://schemas.openxmlformats.org/officeDocument/2006/relationships" id="258" r:id="R6ca6c230d06f4a7b"/>
    <p:sldId xmlns:r="http://schemas.openxmlformats.org/officeDocument/2006/relationships" id="259" r:id="R3dcdf8e890304b25"/>
    <p:sldId xmlns:r="http://schemas.openxmlformats.org/officeDocument/2006/relationships" id="260" r:id="R30151d5118c54918"/>
    <p:sldId xmlns:r="http://schemas.openxmlformats.org/officeDocument/2006/relationships" id="261" r:id="Ra4c6a997c3634804"/>
    <p:sldId xmlns:r="http://schemas.openxmlformats.org/officeDocument/2006/relationships" id="262" r:id="Rf7115b9d2e194deb"/>
    <p:sldId xmlns:r="http://schemas.openxmlformats.org/officeDocument/2006/relationships" id="263" r:id="Rc4b855040ea64878"/>
    <p:sldId xmlns:r="http://schemas.openxmlformats.org/officeDocument/2006/relationships" id="264" r:id="Rce2e4b29cdb24f7c"/>
    <p:sldId xmlns:r="http://schemas.openxmlformats.org/officeDocument/2006/relationships" id="265" r:id="R39a15db38d5a4444"/>
    <p:sldId xmlns:r="http://schemas.openxmlformats.org/officeDocument/2006/relationships" id="266" r:id="R796089cd517745b1"/>
    <p:sldId xmlns:r="http://schemas.openxmlformats.org/officeDocument/2006/relationships" id="267" r:id="R09fe7567aa0b4727"/>
    <p:sldId xmlns:r="http://schemas.openxmlformats.org/officeDocument/2006/relationships" id="268" r:id="R21f041f697b346a3"/>
    <p:sldId xmlns:r="http://schemas.openxmlformats.org/officeDocument/2006/relationships" id="269" r:id="R0343fbcf27024b90"/>
    <p:sldId xmlns:r="http://schemas.openxmlformats.org/officeDocument/2006/relationships" id="270" r:id="R52e7355b88ce4325"/>
    <p:sldId xmlns:r="http://schemas.openxmlformats.org/officeDocument/2006/relationships" id="271" r:id="Rca33fcd24ebb41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5466e0c324233" /><Relationship Type="http://schemas.openxmlformats.org/officeDocument/2006/relationships/slideMaster" Target="/ppt/slideMasters/slideMaster1.xml" Id="R28468eb8356e49ee" /><Relationship Type="http://schemas.openxmlformats.org/officeDocument/2006/relationships/notesMaster" Target="/ppt/notesMasters/notesMaster1.xml" Id="R8b9f42983e824276" /><Relationship Type="http://schemas.openxmlformats.org/officeDocument/2006/relationships/presProps" Target="/ppt/presProps.xml" Id="Rddeff61aa18a4917" /><Relationship Type="http://schemas.openxmlformats.org/officeDocument/2006/relationships/tableStyles" Target="/ppt/tableStyles.xml" Id="R428b12d3bef34206" /><Relationship Type="http://schemas.openxmlformats.org/officeDocument/2006/relationships/slide" Target="/ppt/slides/slide1.xml" Id="Rc5d7dd1ba5274a16" /><Relationship Type="http://schemas.openxmlformats.org/officeDocument/2006/relationships/slide" Target="/ppt/slides/slide2.xml" Id="Rb034b255fb074e99" /><Relationship Type="http://schemas.openxmlformats.org/officeDocument/2006/relationships/slide" Target="/ppt/slides/slide3.xml" Id="R6ca6c230d06f4a7b" /><Relationship Type="http://schemas.openxmlformats.org/officeDocument/2006/relationships/slide" Target="/ppt/slides/slide4.xml" Id="R3dcdf8e890304b25" /><Relationship Type="http://schemas.openxmlformats.org/officeDocument/2006/relationships/slide" Target="/ppt/slides/slide5.xml" Id="R30151d5118c54918" /><Relationship Type="http://schemas.openxmlformats.org/officeDocument/2006/relationships/slide" Target="/ppt/slides/slide6.xml" Id="Ra4c6a997c3634804" /><Relationship Type="http://schemas.openxmlformats.org/officeDocument/2006/relationships/slide" Target="/ppt/slides/slide7.xml" Id="Rf7115b9d2e194deb" /><Relationship Type="http://schemas.openxmlformats.org/officeDocument/2006/relationships/slide" Target="/ppt/slides/slide8.xml" Id="Rc4b855040ea64878" /><Relationship Type="http://schemas.openxmlformats.org/officeDocument/2006/relationships/slide" Target="/ppt/slides/slide9.xml" Id="Rce2e4b29cdb24f7c" /><Relationship Type="http://schemas.openxmlformats.org/officeDocument/2006/relationships/slide" Target="/ppt/slides/slide10.xml" Id="R39a15db38d5a4444" /><Relationship Type="http://schemas.openxmlformats.org/officeDocument/2006/relationships/slide" Target="/ppt/slides/slide11.xml" Id="R796089cd517745b1" /><Relationship Type="http://schemas.openxmlformats.org/officeDocument/2006/relationships/slide" Target="/ppt/slides/slide12.xml" Id="R09fe7567aa0b4727" /><Relationship Type="http://schemas.openxmlformats.org/officeDocument/2006/relationships/slide" Target="/ppt/slides/slide13.xml" Id="R21f041f697b346a3" /><Relationship Type="http://schemas.openxmlformats.org/officeDocument/2006/relationships/slide" Target="/ppt/slides/slide14.xml" Id="R0343fbcf27024b90" /><Relationship Type="http://schemas.openxmlformats.org/officeDocument/2006/relationships/slide" Target="/ppt/slides/slide15.xml" Id="R52e7355b88ce4325" /><Relationship Type="http://schemas.openxmlformats.org/officeDocument/2006/relationships/slide" Target="/ppt/slides/slide16.xml" Id="Rca33fcd24ebb41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c26f1c8e5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fe385dfed1431d" /><Relationship Type="http://schemas.openxmlformats.org/officeDocument/2006/relationships/notesMaster" Target="/ppt/notesMasters/notesMaster1.xml" Id="Rb630954e555c4e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72e4324c8248ec" /><Relationship Type="http://schemas.openxmlformats.org/officeDocument/2006/relationships/notesMaster" Target="/ppt/notesMasters/notesMaster1.xml" Id="R348be6a48996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0ed672ce6446d7" /><Relationship Type="http://schemas.openxmlformats.org/officeDocument/2006/relationships/notesMaster" Target="/ppt/notesMasters/notesMaster1.xml" Id="R33dc85c682f5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58c365f07445b4" /><Relationship Type="http://schemas.openxmlformats.org/officeDocument/2006/relationships/notesMaster" Target="/ppt/notesMasters/notesMaster1.xml" Id="R6af94e1e983a4e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56a3fcbf24eab" /><Relationship Type="http://schemas.openxmlformats.org/officeDocument/2006/relationships/notesMaster" Target="/ppt/notesMasters/notesMaster1.xml" Id="R1af9f1987aba49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c93735dc6b45da" /><Relationship Type="http://schemas.openxmlformats.org/officeDocument/2006/relationships/notesMaster" Target="/ppt/notesMasters/notesMaster1.xml" Id="Raf20e87f330a41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ca20091746467f" /><Relationship Type="http://schemas.openxmlformats.org/officeDocument/2006/relationships/notesMaster" Target="/ppt/notesMasters/notesMaster1.xml" Id="R7c9b6e9218024f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f21fa18494bca" /><Relationship Type="http://schemas.openxmlformats.org/officeDocument/2006/relationships/notesMaster" Target="/ppt/notesMasters/notesMaster1.xml" Id="R9356c5809d8b4e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29db65ad514328" /><Relationship Type="http://schemas.openxmlformats.org/officeDocument/2006/relationships/notesMaster" Target="/ppt/notesMasters/notesMaster1.xml" Id="Rf80a55645b0045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a8a1ad0b724d00" /><Relationship Type="http://schemas.openxmlformats.org/officeDocument/2006/relationships/notesMaster" Target="/ppt/notesMasters/notesMaster1.xml" Id="Re7297df4e73640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0dbde9605f4678" /><Relationship Type="http://schemas.openxmlformats.org/officeDocument/2006/relationships/notesMaster" Target="/ppt/notesMasters/notesMaster1.xml" Id="R7245256b0d0f4b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6b48b7aa964f66" /><Relationship Type="http://schemas.openxmlformats.org/officeDocument/2006/relationships/notesMaster" Target="/ppt/notesMasters/notesMaster1.xml" Id="Ra734ee8cc9c54d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ec4de71da149f3" /><Relationship Type="http://schemas.openxmlformats.org/officeDocument/2006/relationships/notesMaster" Target="/ppt/notesMasters/notesMaster1.xml" Id="R3c081a7a19144c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86a56ef95b44db" /><Relationship Type="http://schemas.openxmlformats.org/officeDocument/2006/relationships/notesMaster" Target="/ppt/notesMasters/notesMaster1.xml" Id="R9cf5f281121c48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d9327b0a2e45a3" /><Relationship Type="http://schemas.openxmlformats.org/officeDocument/2006/relationships/notesMaster" Target="/ppt/notesMasters/notesMaster1.xml" Id="R5f472487d2f244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2a68742f774284" /><Relationship Type="http://schemas.openxmlformats.org/officeDocument/2006/relationships/notesMaster" Target="/ppt/notesMasters/notesMaster1.xml" Id="Reae9f1eca059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domain follow the supplied reference deck. Project-specific student and guide names were not supplied in the project repository, so they are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references: Anderson &amp; Roth, EMBER (arXiv:1804.04637); Shalaginov et al., Machine Learning Aided Static Malware Analysis (arXiv:1808.01201); Ling et al., Computers &amp; Security 128 (2023), DOI 10.1016/j.cose.2023.103134. These works give research context; they do not validate IntelliStatic performance. Full references are on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README.md, docs/API.md, docs/FEATURES.md, docs/MODEL_EVALUATION.md.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The arrows show the app’s main request path; model, YARA, and persistence are analysis-service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docs/FEATURES.md and docs/MODEL_EVALUATION.md. Feature count is 77; the source brief’s stated 75 is inconsistent with its enumerated groups.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docs/MODEL_EVALUATION.md and docs/ARCHITECTURE.md. The number is the estimator’s uncalibrated class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docs/MODEL_EVALUATION.md. The holdout is a stratified random split of unique, non-conflicting seven-field vectors. It is not separated by time, vendor, family, or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docs/MODEL_EVALUATION.md. Confusion matrix values are from the deduplicated holdout, actual class rows and predicted class columns.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README.md. Security posture described for local configuration; production deployment requires separate secure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follow the limitations and future-work guidance in docs/MODEL_EVALUATION.md.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sources: https://arxiv.org/abs/1804.04637 ; https://arxiv.org/abs/1710.09435 ; https://arxiv.org/abs/1808.01201 ; https://doi.org/10.1016/j.cose.2023.103134. Project sources: repository README.md, docs/ARCHITECTURE.md, docs/FEATURES.md, docs/MODEL_EVALUATION.md, docs/API.md.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5151e6cc641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2c27850494a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7d55bb33d4a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9543a6a254b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305f5e76648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970440b79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D805C0-B0DC-4F01-95E9-89AB27925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97CD32-2F58-49FB-8582-49935B0E00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9FA406-A708-40A5-96AE-D1B11B690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D230CF-84A4-4C73-9A3B-F70A373C9A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C4D2A8-3DD6-4254-8AF2-4494A990D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4483C7-C452-48CB-A73E-670E7245B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22FB6F-E03E-4D81-94E2-2F531E7960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8F3641-4C9F-425E-8622-5ED7274888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BD0622-3A87-4F95-8457-C69EBB60F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B8BA0E-6C1F-4CE0-BD5B-D3C000A971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1444b6f77d4de7" /><Relationship Type="http://schemas.openxmlformats.org/officeDocument/2006/relationships/slideLayout" Target="/ppt/slideLayouts/slideLayout1.xml" Id="Rafb555b0cbe84f7e" /><Relationship Type="http://schemas.openxmlformats.org/officeDocument/2006/relationships/slideLayout" Target="/ppt/slideLayouts/slideLayout2.xml" Id="R2bd0dcd5f3bb4f6a" /><Relationship Type="http://schemas.openxmlformats.org/officeDocument/2006/relationships/slideLayout" Target="/ppt/slideLayouts/slideLayout3.xml" Id="R30ba451b0bc84e7e" /><Relationship Type="http://schemas.openxmlformats.org/officeDocument/2006/relationships/slideLayout" Target="/ppt/slideLayouts/slideLayout4.xml" Id="R080c770c430346a6" /><Relationship Type="http://schemas.openxmlformats.org/officeDocument/2006/relationships/slideLayout" Target="/ppt/slideLayouts/slideLayout5.xml" Id="R599268aec42e494b" /><Relationship Type="http://schemas.openxmlformats.org/officeDocument/2006/relationships/slideLayout" Target="/ppt/slideLayouts/slideLayout6.xml" Id="Ra8ef725fa3e646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555b0cbe84f7e"/>
    <p:sldLayoutId xmlns:r="http://schemas.openxmlformats.org/officeDocument/2006/relationships" id="2147483650" r:id="R2bd0dcd5f3bb4f6a"/>
    <p:sldLayoutId xmlns:r="http://schemas.openxmlformats.org/officeDocument/2006/relationships" id="2147483651" r:id="R30ba451b0bc84e7e"/>
    <p:sldLayoutId xmlns:r="http://schemas.openxmlformats.org/officeDocument/2006/relationships" id="2147483652" r:id="R080c770c430346a6"/>
    <p:sldLayoutId xmlns:r="http://schemas.openxmlformats.org/officeDocument/2006/relationships" id="2147483653" r:id="R599268aec42e494b"/>
    <p:sldLayoutId xmlns:r="http://schemas.openxmlformats.org/officeDocument/2006/relationships" id="2147483654" r:id="Ra8ef725fa3e646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4b9acbaba44c0" /><Relationship Type="http://schemas.openxmlformats.org/officeDocument/2006/relationships/image" Target="/ppt/media/image.png" Id="Rc05c852d061b40c1" /><Relationship Type="http://schemas.openxmlformats.org/officeDocument/2006/relationships/image" Target="/ppt/media/image2.png" Id="Ra5001882a8104733" /><Relationship Type="http://schemas.openxmlformats.org/officeDocument/2006/relationships/notesSlide" Target="/ppt/notesSlides/notesSlide1.xml" Id="R2832668c4ca0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e18e545844059" /><Relationship Type="http://schemas.openxmlformats.org/officeDocument/2006/relationships/image" Target="/ppt/media/image3.png" Id="R729383be2c2a4d89" /><Relationship Type="http://schemas.openxmlformats.org/officeDocument/2006/relationships/image" Target="/ppt/media/image4.png" Id="R04361255e8ef4c62" /><Relationship Type="http://schemas.openxmlformats.org/officeDocument/2006/relationships/notesSlide" Target="/ppt/notesSlides/notesSlide2.xml" Id="R20e52d15b78b41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03f7e92cf4c72" /><Relationship Type="http://schemas.openxmlformats.org/officeDocument/2006/relationships/image" Target="/ppt/media/image5.png" Id="R38748f42fda1489d" /><Relationship Type="http://schemas.openxmlformats.org/officeDocument/2006/relationships/image" Target="/ppt/media/image6.png" Id="R7b8ee15120534177" /><Relationship Type="http://schemas.openxmlformats.org/officeDocument/2006/relationships/notesSlide" Target="/ppt/notesSlides/notesSlide3.xml" Id="R1e42d84ee34a4f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975d12f4f4323" /><Relationship Type="http://schemas.openxmlformats.org/officeDocument/2006/relationships/image" Target="/ppt/media/image7.png" Id="Rde08160fff7f4e65" /><Relationship Type="http://schemas.openxmlformats.org/officeDocument/2006/relationships/image" Target="/ppt/media/image8.png" Id="R1a7fad01c36b4b49" /><Relationship Type="http://schemas.openxmlformats.org/officeDocument/2006/relationships/notesSlide" Target="/ppt/notesSlides/notesSlide4.xml" Id="R8cfc26baecab45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88c53174c74fb6" /><Relationship Type="http://schemas.openxmlformats.org/officeDocument/2006/relationships/image" Target="/ppt/media/image9.png" Id="R51b6bf5427e14729" /><Relationship Type="http://schemas.openxmlformats.org/officeDocument/2006/relationships/image" Target="/ppt/media/image10.png" Id="Rd0a87ede19704fc6" /><Relationship Type="http://schemas.openxmlformats.org/officeDocument/2006/relationships/notesSlide" Target="/ppt/notesSlides/notesSlide5.xml" Id="Ra723dc85d1c641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a00156c20447e" /><Relationship Type="http://schemas.openxmlformats.org/officeDocument/2006/relationships/image" Target="/ppt/media/image11.png" Id="Rc23dfc66a71b43bd" /><Relationship Type="http://schemas.openxmlformats.org/officeDocument/2006/relationships/image" Target="/ppt/media/image12.png" Id="R7c721e52b54342c3" /><Relationship Type="http://schemas.openxmlformats.org/officeDocument/2006/relationships/notesSlide" Target="/ppt/notesSlides/notesSlide6.xml" Id="Rf8712cf8a04947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16f54d4a7459f" /><Relationship Type="http://schemas.openxmlformats.org/officeDocument/2006/relationships/image" Target="/ppt/media/image13.png" Id="R16a472bab428406c" /><Relationship Type="http://schemas.openxmlformats.org/officeDocument/2006/relationships/image" Target="/ppt/media/image14.png" Id="R030834d77c464e81" /><Relationship Type="http://schemas.openxmlformats.org/officeDocument/2006/relationships/notesSlide" Target="/ppt/notesSlides/notesSlide7.xml" Id="R3bef3284b4a24b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2201209844318" /><Relationship Type="http://schemas.openxmlformats.org/officeDocument/2006/relationships/image" Target="/ppt/media/image15.png" Id="R5064991724634531" /><Relationship Type="http://schemas.openxmlformats.org/officeDocument/2006/relationships/image" Target="/ppt/media/image16.png" Id="Ra555b2f13e6141f1" /><Relationship Type="http://schemas.openxmlformats.org/officeDocument/2006/relationships/notesSlide" Target="/ppt/notesSlides/notesSlide8.xml" Id="R1b69ef305f444a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072309be04f3a" /><Relationship Type="http://schemas.openxmlformats.org/officeDocument/2006/relationships/image" Target="/ppt/media/image17.png" Id="Rf2bdbe9058b34659" /><Relationship Type="http://schemas.openxmlformats.org/officeDocument/2006/relationships/image" Target="/ppt/media/image18.png" Id="Raa5c47a61f354873" /><Relationship Type="http://schemas.openxmlformats.org/officeDocument/2006/relationships/notesSlide" Target="/ppt/notesSlides/notesSlide9.xml" Id="Ra15ca42724e9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be466b14d4aed" /><Relationship Type="http://schemas.openxmlformats.org/officeDocument/2006/relationships/image" Target="/ppt/media/image19.png" Id="Rdb829b0fe9d44aac" /><Relationship Type="http://schemas.openxmlformats.org/officeDocument/2006/relationships/image" Target="/ppt/media/image20.png" Id="R5a871f0172fb425a" /><Relationship Type="http://schemas.openxmlformats.org/officeDocument/2006/relationships/notesSlide" Target="/ppt/notesSlides/notesSlide10.xml" Id="R96d2c8a14f0a42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6b67acc744759" /><Relationship Type="http://schemas.openxmlformats.org/officeDocument/2006/relationships/image" Target="/ppt/media/image21.png" Id="Rdaf6cd39e537496d" /><Relationship Type="http://schemas.openxmlformats.org/officeDocument/2006/relationships/image" Target="/ppt/media/image22.png" Id="R8265f9c0acb046eb" /><Relationship Type="http://schemas.openxmlformats.org/officeDocument/2006/relationships/notesSlide" Target="/ppt/notesSlides/notesSlide11.xml" Id="Re72edf9ad4e946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835ef1f30408c" /><Relationship Type="http://schemas.openxmlformats.org/officeDocument/2006/relationships/image" Target="/ppt/media/image23.png" Id="R563b6eaa407947f0" /><Relationship Type="http://schemas.openxmlformats.org/officeDocument/2006/relationships/image" Target="/ppt/media/image24.png" Id="R78f8be5844694a72" /><Relationship Type="http://schemas.openxmlformats.org/officeDocument/2006/relationships/notesSlide" Target="/ppt/notesSlides/notesSlide12.xml" Id="Raef71f03770349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e5fcf901d47a0" /><Relationship Type="http://schemas.openxmlformats.org/officeDocument/2006/relationships/image" Target="/ppt/media/image25.png" Id="R9539b8f340334adf" /><Relationship Type="http://schemas.openxmlformats.org/officeDocument/2006/relationships/image" Target="/ppt/media/image26.png" Id="Ra303408d01654897" /><Relationship Type="http://schemas.openxmlformats.org/officeDocument/2006/relationships/notesSlide" Target="/ppt/notesSlides/notesSlide13.xml" Id="R8880f1b72e4b4f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4d18853b74272" /><Relationship Type="http://schemas.openxmlformats.org/officeDocument/2006/relationships/image" Target="/ppt/media/image27.png" Id="R15eaedffcd8b4f83" /><Relationship Type="http://schemas.openxmlformats.org/officeDocument/2006/relationships/image" Target="/ppt/media/image28.png" Id="R6e36138cdf024828" /><Relationship Type="http://schemas.openxmlformats.org/officeDocument/2006/relationships/notesSlide" Target="/ppt/notesSlides/notesSlide14.xml" Id="R6e70300042f94e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4463d73604093" /><Relationship Type="http://schemas.openxmlformats.org/officeDocument/2006/relationships/image" Target="/ppt/media/image29.png" Id="R80734bbee0fc4579" /><Relationship Type="http://schemas.openxmlformats.org/officeDocument/2006/relationships/image" Target="/ppt/media/image30.png" Id="R54ee3fc3313e4284" /><Relationship Type="http://schemas.openxmlformats.org/officeDocument/2006/relationships/notesSlide" Target="/ppt/notesSlides/notesSlide15.xml" Id="Rfc1549b1257e48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af5a04a6c4b1f" /><Relationship Type="http://schemas.openxmlformats.org/officeDocument/2006/relationships/image" Target="/ppt/media/image31.png" Id="R640acf8e7c5d44a1" /><Relationship Type="http://schemas.openxmlformats.org/officeDocument/2006/relationships/image" Target="/ppt/media/image32.png" Id="R6166f0ad20cd490f" /><Relationship Type="http://schemas.openxmlformats.org/officeDocument/2006/relationships/notesSlide" Target="/ppt/notesSlides/notesSlide16.xml" Id="R2d7fc0eed1cd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2B3C2-CE64-44A6-B385-B5E308A89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c852d061b40c1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cover accent">
            <a:extLst xmlns:a="http://schemas.openxmlformats.org/drawingml/2006/main">
              <a:ext uri="{FF2B5EF4-FFF2-40B4-BE49-F238E27FC236}">
                <a16:creationId xmlns:a16="http://schemas.microsoft.com/office/drawing/2014/main" id="{21F8D21A-749E-4B43-A1EB-C835CABD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85875"/>
            <a:ext cx="857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3072895-CA31-4505-ABAB-0FB1388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U20CSPRO1  |  MINI PROJECT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E14FC6-4F7C-4694-B701-77E1F33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828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Intelligent Static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File Analysis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7A6EF5-56E0-4EC9-AA91-4652010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147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 local tool for reviewing Windows program files</a:t>
            </a:r>
          </a:p>
        </p:txBody>
      </p:sp>
      <p:sp>
        <p:nvSpPr>
          <p:cNvPr id="6" name="cover divider">
            <a:extLst xmlns:a="http://schemas.openxmlformats.org/drawingml/2006/main">
              <a:ext uri="{FF2B5EF4-FFF2-40B4-BE49-F238E27FC236}">
                <a16:creationId xmlns:a16="http://schemas.microsoft.com/office/drawing/2014/main" id="{66751CBB-0212-48D8-947D-35CB578A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33875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C914B8-CB8F-4E5F-9EA3-2CC5500A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72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DOMAIN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3CD818-2FF5-46EE-B7F0-2FC0514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387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AI / ML  •  Cybersecurity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71CA02-C1F9-43BC-A523-531BEE45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149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STATIC ANALYSIS ONLY  |  FILES ARE NOT EXECUTED</a:t>
            </a:r>
          </a:p>
        </p:txBody>
      </p:sp>
      <p:sp>
        <p:nvSpPr>
          <p:cNvPr id="10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87A69FD4-5ACB-42CA-8669-7B97005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74BEF-6F83-49BB-B6D6-7C59FEB30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01882a8104733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C9BA44A-606D-4AEE-B7E8-2A1CE615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66AA44-35F4-4D38-9AFD-189665D3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67175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E1B31-A194-4BBB-B3AF-DF1E719E0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383be2c2a4d89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C00AB37A-4786-4902-947A-2C16738C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8DAE2-10BC-4E76-973D-93D45E48F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61255e8ef4c62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B2E0D6-84D2-4C5C-9E7F-3DC930BE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0339B1-2F27-4594-8780-B6D89EE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243ADC-5D79-49F3-9295-432B310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01  |  INTRODUCTION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967668-A917-4303-A935-92F8F737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0CE8C51C-B9D4-466B-A6BF-C11E4093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D3C5F5-24D4-4110-989D-20730DA0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IntelliStatic inspects Windows program files without running them.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64FC16E-B239-441E-9262-F2AEC08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F8936CB-4FA3-4EBC-8285-3D0BF3E1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It reads file structure and reports features such as headers, sections, imports, and strings.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C7506A-0EC0-449E-A4B0-F1C0A7E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1CB93E-94DA-416F-BBF4-E9A3704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It combines a Random Forest screening score with YARA rule matches and file details.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7D58063-4C90-475F-9FB5-5CF70833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1C7D79-9CA3-418F-A9E5-17CE7964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It supports one-file checks, multi-file scans, saved reports, and CSV export.</a:t>
            </a:r>
          </a:p>
        </p:txBody>
      </p:sp>
      <p:sp>
        <p:nvSpPr>
          <p:cNvPr id="16" name="scope notice">
            <a:extLst xmlns:a="http://schemas.openxmlformats.org/drawingml/2006/main">
              <a:ext uri="{FF2B5EF4-FFF2-40B4-BE49-F238E27FC236}">
                <a16:creationId xmlns:a16="http://schemas.microsoft.com/office/drawing/2014/main" id="{DB38BA99-7012-4159-894B-6706275C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334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2D5530E-3FEC-440C-B534-1B9750D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911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Use the result to decide what needs review. It does not prove that a file is safe or malicious.</a:t>
            </a:r>
          </a:p>
        </p:txBody>
      </p:sp>
    </p:spTree>
    <p:extLst>
      <p:ext uri="{BB962C8B-B14F-4D97-AF65-F5344CB8AC3E}">
        <p14:creationId xmlns:p14="http://schemas.microsoft.com/office/powerpoint/2010/main" val="1419629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64C2E-4558-47B6-8219-069FF2A6F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48f42fda1489d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470BA28B-E8A2-4C45-BDC4-10D0C349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D54CD-9558-4889-9CE3-3D0BFEB989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ee15120534177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8839EB-6BF4-4C7B-936B-53384B5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61765D-F146-4A25-8496-5B4DB89E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259292-A666-4D87-9A59-42C6A5F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02  |  BACKGROUND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308149-FCEF-4C8E-8C1A-48BDC4F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Why static file analysis?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6F55B35D-BFEC-4E0B-A997-BE80AAC4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A98B38-31C8-4E96-9E99-E881F934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A suspicious program can be risky to run just to learn what it does.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52868D-6D45-4DA4-A7C9-7389A6A7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897EE2-4AA4-4966-8A76-C094E4BB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0086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Static analysis checks file data without starting the program.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A09504-3F2A-48DB-9C4A-D20121D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4DDA8D-8DB8-4A13-A437-783ABA9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10086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Manual inspection of many file fields can take time and specialist knowledge.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2D26D6-93BE-4148-B87B-ED6D393D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140DA0-2009-4B54-819C-E312CC0E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0086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A structured report can help a person review important clues in one place.</a:t>
            </a:r>
          </a:p>
        </p:txBody>
      </p:sp>
      <p:sp>
        <p:nvSpPr>
          <p:cNvPr id="16" name="research context">
            <a:extLst xmlns:a="http://schemas.openxmlformats.org/drawingml/2006/main">
              <a:ext uri="{FF2B5EF4-FFF2-40B4-BE49-F238E27FC236}">
                <a16:creationId xmlns:a16="http://schemas.microsoft.com/office/drawing/2014/main" id="{608167EE-97C9-4F6F-93D9-9636830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2870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AF3BB8B-E5AD-4828-ABEA-187F842F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Research context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BB0A9F8-78B0-4553-A4A4-51760EF3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97"/>
          </a:bodyPr>
          <a:lstStyle xmlns:a="http://schemas.openxmlformats.org/drawingml/2006/main">
            <a:defPPr algn="l"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Published work studies static PE features, machine learning, and the limits of automated detection. This project is a small research baseline in that area.</a:t>
            </a:r>
          </a:p>
        </p:txBody>
      </p:sp>
    </p:spTree>
    <p:extLst>
      <p:ext uri="{BB962C8B-B14F-4D97-AF65-F5344CB8AC3E}">
        <p14:creationId xmlns:p14="http://schemas.microsoft.com/office/powerpoint/2010/main" val="1967361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BAD41-FCA1-4BBD-AD66-D80E437C7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8160fff7f4e65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5ACD8ACF-7851-474E-87D6-EDE22125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B2481-3CAC-412A-B426-D7B8E6BFCA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fad01c36b4b49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A08EABF-E907-4631-8DFE-227256EC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4DB769-E05B-43BC-8F8E-82AB04E5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E6CD80-B920-45ED-AF3A-3B6B21E1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03  |  PURPOSE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8CC1D3-C31C-4154-A7AC-3575B264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Problem and project objectives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6FE50DC7-9025-41ED-96AC-4631065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53FFC9-8C0D-427C-BFE3-F3607B5B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Problem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E4A110-E25A-41C3-8A17-87B6E73F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A file scan can produce technical details that are hard to compare or explain. A simple first-pass review needs to show its evidence and limits clearly.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55D82B1-312B-4003-BDCD-DFC04AED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054631-4EDD-4F41-AAB7-A59706C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FD6B1A-309B-4272-A52F-10A52E3C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Inspect supported Windows PE files without executing them.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036CCCA-4208-4131-BD46-5922D2F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4146712-C75A-4E0D-B0E3-EC8346E6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Show extracted features, model signals, and YARA matches together.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FCD94C4-AA5A-4111-9A44-2445BD7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95675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8EA6C2-F591-4C5F-88EC-8468D6B8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95675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9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Keep reports and batch results easy to revisit and compare.</a:t>
            </a:r>
          </a:p>
        </p:txBody>
      </p:sp>
      <p:sp>
        <p:nvSpPr>
          <p:cNvPr id="18" name="scope callout">
            <a:extLst xmlns:a="http://schemas.openxmlformats.org/drawingml/2006/main">
              <a:ext uri="{FF2B5EF4-FFF2-40B4-BE49-F238E27FC236}">
                <a16:creationId xmlns:a16="http://schemas.microsoft.com/office/drawing/2014/main" id="{A8BCADB9-9F1D-44EC-9DF8-A92523FE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306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518AF0E-98E9-433B-9362-A38174A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Project goal: support early triage, not replace antivirus software or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2020070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96289-6374-4F14-9D1D-533C40727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6bf5427e14729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1765268F-0259-4E1E-A0AE-46BF9140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86701-ED00-4108-832A-2CB5C5BDD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87ede19704fc6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2EF2B7-B057-431D-806C-127F5E2D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90D9683-A50C-45DC-9490-19B20057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531118-4DDC-415E-BDEE-C52AA91D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04  |  SCOPE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758B54-63ED-447F-8446-41A204EC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What the system can and cannot do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9B5F7F37-A0DE-4AE7-BBB2-A6467E6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0BBD0-596D-4629-BC2E-4EDD0F1CC274}"/>
              </a:ext>
            </a:extLst>
          </p:cNvPr>
          <p:cNvGraphicFramePr/>
          <p:nvPr/>
        </p:nvGraphicFramePr>
        <p:xfrm>
          <a:off xmlns:a="http://schemas.openxmlformats.org/drawingml/2006/main" x="781050" y="1524000"/>
          <a:ext xmlns:a="http://schemas.openxmlformats.org/drawingml/2006/main" cx="10287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43500"/>
                <a:gridCol w="5143500"/>
              </a:tblGrid>
              <a:tr h="68580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system can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system cannot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</a:tr>
              <a:tr h="68580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 supported PE files: EXE, DLL, SYS, BIN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Analyze behavior by running the 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Extract 77 static feature values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Guarantee a file is safe or infected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  <a:tr h="68580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 a binary model score and YARA matches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 a malware family from this dataset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 reports and scan up to 20 files in a batch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Replace a full antivirus or sandbox review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8D0CE8-2D74-44AC-BE90-03B48C14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Uploads are checked by the API. The default per-file size limit is 100 MB.</a:t>
            </a:r>
          </a:p>
        </p:txBody>
      </p:sp>
    </p:spTree>
    <p:extLst>
      <p:ext uri="{BB962C8B-B14F-4D97-AF65-F5344CB8AC3E}">
        <p14:creationId xmlns:p14="http://schemas.microsoft.com/office/powerpoint/2010/main" val="2131868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8E6F3-5C30-453D-A570-0F58742F000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715250" y="2857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9C7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12DD4-10EE-4FEF-8213-CD081CCF1D4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238750" y="2857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9C7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1DD71-C6E0-4EDF-89F5-790B7B2E867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62250" y="2857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9C7"/>
            </a:solidFill>
            <a:prstDash val="solid"/>
            <a:tailEnd type="arrow" w="med" len="med"/>
          </a:ln>
        </p:spPr>
      </p:cxn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ED2C2-4F8A-4AE2-B579-9AB2612CB6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dfc66a71b43bd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4986F744-BB66-42DD-ADD5-2F2E3F5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3C2C0-D951-491C-885A-B1976C609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21e52b54342c3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59B314F-CE7E-402F-AFF5-EE331E05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398163-8FD8-441E-8EBA-F0AC6899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C03A92-0A82-4AC0-AB7B-4DD788A7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05  |  DESIGN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5E54C5-9A2B-42C9-A8CE-107160E1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C7DD318C-90D1-4C82-9E89-8A27EF3A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3A49E7-F8D7-4E9A-9AE7-15D3856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The dashboard sends a file to the local API. The analysis service gathers evidence and returns a report.</a:t>
            </a:r>
          </a:p>
        </p:txBody>
      </p:sp>
      <p:sp>
        <p:nvSpPr>
          <p:cNvPr id="10" name="Dashboard">
            <a:extLst xmlns:a="http://schemas.openxmlformats.org/drawingml/2006/main">
              <a:ext uri="{FF2B5EF4-FFF2-40B4-BE49-F238E27FC236}">
                <a16:creationId xmlns:a16="http://schemas.microsoft.com/office/drawing/2014/main" id="{85528E89-04FC-4F94-903F-88761648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CE96F77-3518-44BE-B746-DF224153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Dashboard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F377D01-D0A0-46F9-82A1-F63C4F22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Streamlit</a:t>
            </a:r>
          </a:p>
        </p:txBody>
      </p:sp>
      <p:sp>
        <p:nvSpPr>
          <p:cNvPr id="13" name="API">
            <a:extLst xmlns:a="http://schemas.openxmlformats.org/drawingml/2006/main">
              <a:ext uri="{FF2B5EF4-FFF2-40B4-BE49-F238E27FC236}">
                <a16:creationId xmlns:a16="http://schemas.microsoft.com/office/drawing/2014/main" id="{2116E60E-AA95-4830-BAFD-9293A5D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AD6BB5E-FB17-4508-A865-F29777D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431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API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33174C-59BA-4672-B2A0-24BEF78A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FastAPI</a:t>
            </a:r>
          </a:p>
        </p:txBody>
      </p:sp>
      <p:sp>
        <p:nvSpPr>
          <p:cNvPr id="16" name="Analysis service">
            <a:extLst xmlns:a="http://schemas.openxmlformats.org/drawingml/2006/main">
              <a:ext uri="{FF2B5EF4-FFF2-40B4-BE49-F238E27FC236}">
                <a16:creationId xmlns:a16="http://schemas.microsoft.com/office/drawing/2014/main" id="{3572FF0B-DC4C-4C94-AFDD-507F4242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255A83D-2E58-4C76-B824-83735795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431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Analysis service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49203E3-CCF9-45AC-917D-FAD0706D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14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Validation + analysis</a:t>
            </a:r>
          </a:p>
        </p:txBody>
      </p:sp>
      <p:sp>
        <p:nvSpPr>
          <p:cNvPr id="19" name="Report">
            <a:extLst xmlns:a="http://schemas.openxmlformats.org/drawingml/2006/main">
              <a:ext uri="{FF2B5EF4-FFF2-40B4-BE49-F238E27FC236}">
                <a16:creationId xmlns:a16="http://schemas.microsoft.com/office/drawing/2014/main" id="{9FC7DFA4-8AB1-4715-9B3B-80D7222F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FC19306-2E61-4FA4-9901-264C3941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431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Report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4AE788D-5474-4E7F-BD00-95E3C0C7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Findings + history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7309EE8-9754-44A6-8989-F22E83C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Analysis service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1EC0FC0-9B2F-412F-AB19-34BC7405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810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• LIEF / pefile extract file structure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• Random Forest checks 7 PE fields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• YARA scans for named rule patterns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• SQLAlchemy saves report metadata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0EB7E9D-A0BE-4BA7-81A8-3C97DCB4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Storage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8416781-C1A4-4DF6-9C47-46DF9B78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SQLite by default; PostgreSQL can be configured. Uploaded file bytes are not stored or executed by the backend.</a:t>
            </a:r>
          </a:p>
        </p:txBody>
      </p:sp>
    </p:spTree>
    <p:extLst>
      <p:ext uri="{BB962C8B-B14F-4D97-AF65-F5344CB8AC3E}">
        <p14:creationId xmlns:p14="http://schemas.microsoft.com/office/powerpoint/2010/main" val="1966284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3210D-C372-45D3-926C-E2BAA86A5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472bab428406c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76A3A28D-969C-4582-9AD7-6A49FE3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3C2D9-988A-4236-BF08-B0ADE0F64A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834d77c464e81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A27721E-499B-4410-8E41-A4AB2A9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763628-1A02-4778-AD42-2F792EC2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17B90A5-345C-4712-A57A-4BAE7B8A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06  |  HOW IT WORKS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544D4D-6213-4070-96C2-464F190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File analysis workflow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85226444-440F-4144-9A58-7CA3E25E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405222-EEBC-4A4E-B8D3-D5883AC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476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C64F69-9ED4-4DDD-93D6-A9558628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763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Choose a file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E41326-9F4E-447C-81B9-350210F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7637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Select one supported file or a batch of up to 20.</a:t>
            </a:r>
          </a:p>
        </p:txBody>
      </p:sp>
      <p:sp>
        <p:nvSpPr>
          <p:cNvPr id="12" name="workflow connector">
            <a:extLst xmlns:a="http://schemas.openxmlformats.org/drawingml/2006/main">
              <a:ext uri="{FF2B5EF4-FFF2-40B4-BE49-F238E27FC236}">
                <a16:creationId xmlns:a16="http://schemas.microsoft.com/office/drawing/2014/main" id="{71B44F8E-5D4B-4B91-B1DC-87186DDF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907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438ED1-7A93-41F4-9417-842EB38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431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938D5FF-7211-4A90-8379-AE6E3F3B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431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Check and read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54396A-A368-488C-8DB3-0E49BF27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The API checks file type and size, then reads bytes in memory.</a:t>
            </a:r>
          </a:p>
        </p:txBody>
      </p:sp>
      <p:sp>
        <p:nvSpPr>
          <p:cNvPr id="16" name="workflow connector">
            <a:extLst xmlns:a="http://schemas.openxmlformats.org/drawingml/2006/main">
              <a:ext uri="{FF2B5EF4-FFF2-40B4-BE49-F238E27FC236}">
                <a16:creationId xmlns:a16="http://schemas.microsoft.com/office/drawing/2014/main" id="{C1487317-2888-4575-A3BD-29DD6E27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575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EB33AF6-8ED7-46B7-88EA-745F2CED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68599FF-FF01-465B-90C5-D896F29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99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Collect clues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D310F10-E3EB-49B0-89FF-E017494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997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The app extracts features and runs the model and YARA checks.</a:t>
            </a:r>
          </a:p>
        </p:txBody>
      </p:sp>
      <p:sp>
        <p:nvSpPr>
          <p:cNvPr id="20" name="workflow connector">
            <a:extLst xmlns:a="http://schemas.openxmlformats.org/drawingml/2006/main">
              <a:ext uri="{FF2B5EF4-FFF2-40B4-BE49-F238E27FC236}">
                <a16:creationId xmlns:a16="http://schemas.microsoft.com/office/drawing/2014/main" id="{D79F8E09-BD4E-46E3-9FAA-84597D8A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243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CFF94F4-DDB6-41C8-B94D-82C7FB70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767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1B227C0-5682-4911-84EC-1281296A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767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Review report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F6BA3D8-A9AF-4AEF-9148-5EF6537D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7677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See the file details, signals, and saved analysis result.</a:t>
            </a:r>
          </a:p>
        </p:txBody>
      </p:sp>
      <p:sp>
        <p:nvSpPr>
          <p:cNvPr id="24" name="safe handling notice">
            <a:extLst xmlns:a="http://schemas.openxmlformats.org/drawingml/2006/main">
              <a:ext uri="{FF2B5EF4-FFF2-40B4-BE49-F238E27FC236}">
                <a16:creationId xmlns:a16="http://schemas.microsoft.com/office/drawing/2014/main" id="{ED2FB7B5-CC90-42C4-87C8-8586423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91200"/>
            <a:ext cx="975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FAA3AAB-16CC-4334-AA9A-1BF77B1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57875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The program is never started by the analyzer.</a:t>
            </a:r>
          </a:p>
        </p:txBody>
      </p:sp>
    </p:spTree>
    <p:extLst>
      <p:ext uri="{BB962C8B-B14F-4D97-AF65-F5344CB8AC3E}">
        <p14:creationId xmlns:p14="http://schemas.microsoft.com/office/powerpoint/2010/main" val="98276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79E50-2DBF-4739-8734-6D352A917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4991724634531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F0E91769-13FD-4BCE-AD93-9449CDD3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ADFCC-246D-45A7-915F-2016A8643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5b2f13e6141f1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003B79-9D8E-467A-8F91-29FF8DE7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F522A1-8365-4171-A999-E7F841BC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986CB7-C822-460F-B332-DF9BD334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07  |  EVIDENCE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813661-5850-4171-A742-77275D61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77 extracted features, 7 model inputs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EB3F9C6A-16AE-4E26-9907-BF529438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01263A-AECD-450F-9623-759BEB9A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Feature report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9B6021-E392-4928-905B-DC050ED4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77 values grouped by file headers, sections, imports, strings, bytes, Rich header, data directories, and ratios.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D66BC38-A76D-4A9B-8AF4-34EAE663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954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Model input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F25771-FABB-4B3C-A229-CA4A04EB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526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The Random Forest uses only 7 shared PE fields: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B100525-757F-45E4-B618-D15F7D05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Entry point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Linker version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Image version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Operating-system version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DLL characteristics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Stack reserve size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Section count</a:t>
            </a:r>
          </a:p>
        </p:txBody>
      </p:sp>
      <p:sp>
        <p:nvSpPr>
          <p:cNvPr id="14" name="feature distinction">
            <a:extLst xmlns:a="http://schemas.openxmlformats.org/drawingml/2006/main">
              <a:ext uri="{FF2B5EF4-FFF2-40B4-BE49-F238E27FC236}">
                <a16:creationId xmlns:a16="http://schemas.microsoft.com/office/drawing/2014/main" id="{7016B4E8-27BB-422E-A7D1-DF115ED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42D6979-01DE-4A59-B40A-1C8368F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The 77 values appear in the report; only the seven listed fields go into this model.</a:t>
            </a:r>
          </a:p>
        </p:txBody>
      </p:sp>
    </p:spTree>
    <p:extLst>
      <p:ext uri="{BB962C8B-B14F-4D97-AF65-F5344CB8AC3E}">
        <p14:creationId xmlns:p14="http://schemas.microsoft.com/office/powerpoint/2010/main" val="10557863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601B5-E307-407D-B1D4-761669668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dbe9058b34659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9AAEADCB-1A2F-4CEE-8647-A5E765A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95833-62D1-430C-A07C-C40992B41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c47a61f354873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BFB37DC-D90E-4AC8-BEA4-70DF7C6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11F81B-7D8F-4E02-9D75-9839B283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0C8B9E-C8A2-46E7-85BC-F88BEAB2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08  |  DETECTION SIGNALS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2551E4-7D5C-4CE8-902A-82963688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How the model and rule scan work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B02CE18C-894B-4D9D-8716-95E982A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C07A21-0A3A-40EF-A3F1-26E46ABA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Random Forest score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59ED6B-488F-4C62-9774-21038D84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4572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A raw score shows how strongly the model leans toward its malware class. It is not the chance that the file is infected.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44CF695-6D4C-482C-AB46-C923B64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YARA match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EE077D-31E5-40E1-A6E9-C722D836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A match means file content matched a named rule pattern. It is a clue to review, not proof of malware.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FA52C2-EFA3-485F-B290-41A9C3A4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Example model score: 76%</a:t>
            </a:r>
          </a:p>
        </p:txBody>
      </p:sp>
      <p:sp>
        <p:nvSpPr>
          <p:cNvPr id="14" name="lower score range">
            <a:extLst xmlns:a="http://schemas.openxmlformats.org/drawingml/2006/main">
              <a:ext uri="{FF2B5EF4-FFF2-40B4-BE49-F238E27FC236}">
                <a16:creationId xmlns:a16="http://schemas.microsoft.com/office/drawing/2014/main" id="{43E57283-4494-46EC-9327-7FCA67D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243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ncertain score range">
            <a:extLst xmlns:a="http://schemas.openxmlformats.org/drawingml/2006/main">
              <a:ext uri="{FF2B5EF4-FFF2-40B4-BE49-F238E27FC236}">
                <a16:creationId xmlns:a16="http://schemas.microsoft.com/office/drawing/2014/main" id="{7A3A74BC-AFA1-4714-9303-BCE6E2C2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2432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igher score range">
            <a:extLst xmlns:a="http://schemas.openxmlformats.org/drawingml/2006/main">
              <a:ext uri="{FF2B5EF4-FFF2-40B4-BE49-F238E27FC236}">
                <a16:creationId xmlns:a16="http://schemas.microsoft.com/office/drawing/2014/main" id="{63177C68-1616-4017-92A6-070F2742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del score marker">
            <a:extLst xmlns:a="http://schemas.openxmlformats.org/drawingml/2006/main">
              <a:ext uri="{FF2B5EF4-FFF2-40B4-BE49-F238E27FC236}">
                <a16:creationId xmlns:a16="http://schemas.microsoft.com/office/drawing/2014/main" id="{A6E8BEE6-D0C2-47FD-BEB0-516D3A92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24325E5-C805-4FD7-A1AD-8F886B3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2845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2845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28457"/>
                </a:solidFill>
                <a:latin typeface="Times New Roman"/>
                <a:ea typeface="Times New Roman"/>
                <a:cs typeface="Times New Roman"/>
              </a:rPr>
              <a:t>Lower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0D58C6-22AA-46B3-9E2F-96CB9764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19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A76B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A7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76B00"/>
                </a:solidFill>
                <a:latin typeface="Times New Roman"/>
                <a:ea typeface="Times New Roman"/>
                <a:cs typeface="Times New Roman"/>
              </a:rPr>
              <a:t>Uncertain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5ADC3EA-CA9E-480C-A3D3-62C746B5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75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rPr>
              <a:t>Higher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2443092-9B9F-4625-AEA9-BC76F0E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76% is the model’s screening score. It is not a 76% chance of infection.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F22153-82E8-482F-B073-B8AF570B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 YARA match can occur in a legitimate installer. No match does not prove the file is safe.</a:t>
            </a:r>
          </a:p>
        </p:txBody>
      </p:sp>
    </p:spTree>
    <p:extLst>
      <p:ext uri="{BB962C8B-B14F-4D97-AF65-F5344CB8AC3E}">
        <p14:creationId xmlns:p14="http://schemas.microsoft.com/office/powerpoint/2010/main" val="961506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16E54-25D7-4D03-886F-0A4F9628B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29b0fe9d44aac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F9553F68-8FCA-47F4-A386-7740B35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DDD2A-E913-4E58-9ABF-52F09CC6D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71f0172fb425a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CED9F1-5C4E-4D29-A2E9-07CFE0F9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7DAC93-D9B6-4CCF-B86D-02245879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375061-4C3A-43BD-94FC-F47C2CAA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09  |  USING THE APP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B217B4-B9D5-44A2-908B-657F5CF1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Single-file analysis and batch scan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F157DEC1-6CF4-4BF2-890C-972B5020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623C6E-A4BF-4D44-B796-E86635B1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Analyze one file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A54501-D149-4185-B336-51EB611E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977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Use this when you want to inspect one sample in detail. The report shows its file information, signals, and findings.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77C46A-F16D-49F1-9393-E26D34C8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43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Batch scan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857272-FBD1-4B19-B441-3DD56A2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977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Use this to check several files in one run. Each file gets its own result, then you can compare the summary and export CSV.</a:t>
            </a:r>
          </a:p>
        </p:txBody>
      </p:sp>
      <p:sp>
        <p:nvSpPr>
          <p:cNvPr id="13" name="comparison divider">
            <a:extLst xmlns:a="http://schemas.openxmlformats.org/drawingml/2006/main">
              <a:ext uri="{FF2B5EF4-FFF2-40B4-BE49-F238E27FC236}">
                <a16:creationId xmlns:a16="http://schemas.microsoft.com/office/drawing/2014/main" id="{1415EA9C-512F-4DEB-BEDF-752C07F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10163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99729C-6D60-4D5F-8C4C-0FF825E6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039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Both use the same static checks. Batch scan saves time when there are several files; it does not combine them into one result.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E49E5A2-13F5-4927-89EB-2A88EDE8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Maximum: 20 files per batch. The server’s default file-size limit is 100 MB per file.</a:t>
            </a:r>
          </a:p>
        </p:txBody>
      </p:sp>
    </p:spTree>
    <p:extLst>
      <p:ext uri="{BB962C8B-B14F-4D97-AF65-F5344CB8AC3E}">
        <p14:creationId xmlns:p14="http://schemas.microsoft.com/office/powerpoint/2010/main" val="1464689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02E26-2A4D-4CDB-B44C-638D1EECD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6cd39e537496d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D7F91EBC-FB34-445B-BE3F-10FDE2F0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987CC-98E4-4393-A13A-87ABF7C54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5f9c0acb046eb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131C267-878F-4531-90B1-F0B4646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CB1491-4C1C-4278-A554-1ACBBE15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5DFEBF-66F0-4FDA-9ECC-7050CB77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10  |  BASELINE RESULTS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9A1425-49BC-4AB1-B148-6A479BFC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Model evaluation results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E6B1746A-C08C-4504-BDD3-38F5848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D69E3F-D58C-40D5-AB13-3B14147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Measured on a held-out portion of the bundled metadata dataset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261DD-7831-405D-8E00-5FA1661E83F0}"/>
              </a:ext>
            </a:extLst>
          </p:cNvPr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287000" cy="2876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794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Holdout result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Plain meaning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</a:tr>
              <a:tr h="4794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92.24%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 across both classes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Balanced accuracy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91.70%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Average performance across classes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  <a:tr h="4794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Malware precision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83.01%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Some legitimate files were flagged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Malware recall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90.50%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Some malware examples were missed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  <a:tr h="47942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ROC AUC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97.70%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Separates the two dataset labels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78B78F-CF17-4D89-AF61-6E6A31BA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The split used 20,972 training vectors and 5,243 holdout vectors after duplicate feature vectors were grouped.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FD72A7-DFB0-45A8-A9CC-572451A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rPr>
              <a:t>These are dataset results, not proven accuracy on new real-world files.</a:t>
            </a:r>
          </a:p>
        </p:txBody>
      </p:sp>
    </p:spTree>
    <p:extLst>
      <p:ext uri="{BB962C8B-B14F-4D97-AF65-F5344CB8AC3E}">
        <p14:creationId xmlns:p14="http://schemas.microsoft.com/office/powerpoint/2010/main" val="1782330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71F28-94D6-45C3-A817-ED51B01C0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b6eaa407947f0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E9A33AB8-0559-45C6-9017-A46CA51B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5DEC3-C119-4389-B2C9-D6C979557A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8be5844694a72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DA80D6-4398-4579-A85F-11051592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D16194-A139-4B83-8E40-D30C8804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71CA98-BDF1-4623-BDC4-AA64391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11  |  MODEL LIMITS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289A60-4502-43FA-8799-25A5462F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What the evaluation errors mean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23E65C44-CD65-444C-A128-6A750191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6546D9-A7C1-4492-B01F-DC6AAFCB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Holdout results: predicted label compared with dataset label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47216-458E-4EE1-BD12-EFE87898F1FD}"/>
              </a:ext>
            </a:extLst>
          </p:cNvPr>
          <p:cNvGraphicFramePr/>
          <p:nvPr/>
        </p:nvGraphicFramePr>
        <p:xfrm>
          <a:off xmlns:a="http://schemas.openxmlformats.org/drawingml/2006/main" x="781050" y="1943100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2190750"/>
                <a:gridCol w="2190750"/>
              </a:tblGrid>
              <a:tr h="60325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Actual label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Predicted malware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Predicted legitimate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</a:tr>
              <a:tr h="60325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Malware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1,314 correct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138 missed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Legitimate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269 flagged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3,522 correct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4F7686-4677-412F-98BA-A0D7F05C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716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Two kinds of error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D12191-D722-4C69-9AF6-DA38D220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71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93838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DE6D17-0FB1-4A57-8EBA-7581D55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800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269 legitimate feature vectors were flagged.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6EFD15A-F1D5-4933-9135-E2A2DD8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71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A76B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A7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A76B00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61CD07-BAA5-4EDD-B62A-8A9A7B34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800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138 malware feature vectors were missed.</a:t>
            </a:r>
          </a:p>
        </p:txBody>
      </p:sp>
      <p:sp>
        <p:nvSpPr>
          <p:cNvPr id="16" name="limitations">
            <a:extLst xmlns:a="http://schemas.openxmlformats.org/drawingml/2006/main">
              <a:ext uri="{FF2B5EF4-FFF2-40B4-BE49-F238E27FC236}">
                <a16:creationId xmlns:a16="http://schemas.microsoft.com/office/drawing/2014/main" id="{4E86F9B8-B4D2-46CA-9B00-CAEE1EB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019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86CE86-9377-47E7-92B2-3663F9E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862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Why this may differ on a real file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89564BC-678C-4438-A4B8-495F125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48225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The dataset source and file hashes are not recorded. It contains only seven header fields, and the test split does not check new vendors or future samples.</a:t>
            </a:r>
          </a:p>
        </p:txBody>
      </p:sp>
    </p:spTree>
    <p:extLst>
      <p:ext uri="{BB962C8B-B14F-4D97-AF65-F5344CB8AC3E}">
        <p14:creationId xmlns:p14="http://schemas.microsoft.com/office/powerpoint/2010/main" val="116214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4B257-6538-438E-BA59-4A5AD99B5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9b8f340334adf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9DFA6365-8BA8-4B7C-824D-CA54F4F1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219D9-6E89-43FC-93E0-294A43860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3408d01654897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9A7909-AFD9-4C8C-A2EA-7BBA8439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719DBE4-D562-4C9B-8A9E-F34B2774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6F930E-4191-4A74-BC74-15C8C2B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12  |  SAFEGUARDS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323A2E-C4E6-4592-A4C9-8EE946A7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Safe handling and privacy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6C801EEE-B08C-4300-AB68-02AD7139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387791-2B7B-4F4F-BE77-F5401856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99D832-AED1-4A27-BEA2-9A3BA894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3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The backend checks extension, size, and empty uploads.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70D1EC-FD4B-4DC8-852F-0722F713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17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D1FD86-FF04-4497-9A64-FA5D4BFF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52675"/>
            <a:ext cx="1003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File bytes are read in memory; the backend does not save or execute the sample.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D4AC35-ED8A-47A3-8B73-0B16471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17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3F1B26-6159-47AA-B008-449F2C8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1003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Saved history contains metadata and analysis results, not the original file bytes.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2A53059-84DD-4A8A-8B49-760BDFA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7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5F24690-BCF0-4427-B429-8891D5D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1003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Use only files you are allowed to inspect. A clean result is not a safety guarantee.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B276256-176B-41D1-9E17-79F9CDDB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09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Default limits: supported Windows PE extensions; 100 MB per file; up to 20 files per batch.</a:t>
            </a:r>
          </a:p>
        </p:txBody>
      </p:sp>
    </p:spTree>
    <p:extLst>
      <p:ext uri="{BB962C8B-B14F-4D97-AF65-F5344CB8AC3E}">
        <p14:creationId xmlns:p14="http://schemas.microsoft.com/office/powerpoint/2010/main" val="17670507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6727D-6207-46C3-A6A9-FA1D8B0EF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aedffcd8b4f83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25D10E2F-2A09-4DB1-951D-A26A019D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EB84B-E45F-4E63-80B0-7CE2024FF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6138cdf024828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71A078-5330-4F57-84A6-CF200CAF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639D5B-E67B-4551-B53C-F6A6E641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81DAAC-0697-46E3-967E-D760009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13  |  IMPLEMENTATION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88C9B7-9A16-4B93-B1E7-1038673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Implementation and technology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87BE1A5F-25EA-4125-8C70-4144C819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48194-8086-402A-BA04-5AC097189282}"/>
              </a:ext>
            </a:extLst>
          </p:cNvPr>
          <p:cNvGraphicFramePr/>
          <p:nvPr/>
        </p:nvGraphicFramePr>
        <p:xfrm>
          <a:off xmlns:a="http://schemas.openxmlformats.org/drawingml/2006/main" x="781050" y="1457325"/>
          <a:ext xmlns:a="http://schemas.openxmlformats.org/drawingml/2006/main" cx="10287000" cy="37052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52931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102447"/>
                    </a:solidFill>
                  </a:tcPr>
                </a:tc>
              </a:tr>
              <a:tr h="52931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Dashboard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Streamlit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Single-page analyst interface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31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FastAPI, Uvicorn, Pydantic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Upload validation and report endpoints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  <a:tr h="52931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 parsing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LIEF, pefile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 static Windows file structure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31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scikit-learn Random Forest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Binary research baseline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  <a:tr h="52931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yara-python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Match configured signature patterns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31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History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SQLAlchemy, SQLite / PostgreSQL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Store report metadata</a:t>
                      </a:r>
                    </a:p>
                  </a:txBody>
                  <a:tcPr marL="91440" marR="91440" marT="45720" marB="45720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B621CB-98C6-4CE4-B04B-3A3CB870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1019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Training uses the bundled CSV and a reproducible grouped holdout split.</a:t>
            </a:r>
          </a:p>
        </p:txBody>
      </p:sp>
    </p:spTree>
    <p:extLst>
      <p:ext uri="{BB962C8B-B14F-4D97-AF65-F5344CB8AC3E}">
        <p14:creationId xmlns:p14="http://schemas.microsoft.com/office/powerpoint/2010/main" val="12310597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922A1-0B5B-4BC5-980A-395B52A1E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34bbee0fc4579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908BE22D-89F2-4D8C-895F-05139E94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626AF-ED70-4861-8DD0-51DC33562A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e3fc3313e4284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5F47C06-11A7-46A4-9AA4-C5AC63BF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B5A975-AEE4-46E7-935E-E8D91D06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338D1D-F593-4726-B865-71661FC8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14  |  FUTURE WORK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46EB92-A91E-462A-B9E2-DE39740E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Next steps for a stronger evaluation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B579DF21-8188-4DCB-B321-B443B3B0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0FEE61-8A58-4D55-9668-4F6E8594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35F1D6-7FC7-4F3B-9CE1-D89005A7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525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Document the data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45B679-904F-4841-BA25-E7E14DAC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52575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Record dataset source, collection dates, labels, and sample hashes.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721E9F-800A-4E9D-B97E-DC3D00D9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283387B-D55D-4CF0-BA4B-C80390F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24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Test harder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FCCD494-A98E-4C94-8BA4-DED7D123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Evaluate on files separated by time, source, vendor, or malware family.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46CC46-9C82-499F-8AB6-34D48161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956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FCA79B8-03F7-4543-A509-6EA028C0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956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Improve the score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18868B6-258B-4162-926A-D2FA74DD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95675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17"/>
          </a:bodyPr>
          <a:lstStyle xmlns:a="http://schemas.openxmlformats.org/drawingml/2006/main">
            <a:defPPr algn="l"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Measure calibration and confidence intervals; choose thresholds from the intended use.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3C8095B-8FA0-4BB4-B5A2-710116ED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67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0874C9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B2CC33-4845-4276-8A3F-EE3DC278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672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Broaden evidence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D728CC1-844E-4D1B-868F-2D3E3C53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67225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Study additional validated features and compare against trusted tools.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A2B05F8-F419-41BE-9CAB-AF61B34E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These steps improve evidence quality; they do not guarantee perfect detection.</a:t>
            </a:r>
          </a:p>
        </p:txBody>
      </p:sp>
    </p:spTree>
    <p:extLst>
      <p:ext uri="{BB962C8B-B14F-4D97-AF65-F5344CB8AC3E}">
        <p14:creationId xmlns:p14="http://schemas.microsoft.com/office/powerpoint/2010/main" val="18263709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3FB3D-3316-4575-89FD-95B50BE6E7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acf8e7c5d44a1"/>
          <a:stretch xmlns:a="http://schemas.openxmlformats.org/drawingml/2006/main"/>
        </p:blipFill>
        <p:spPr>
          <a:xfrm xmlns:a="http://schemas.openxmlformats.org/drawingml/2006/main">
            <a:off x="9525000" y="172842"/>
            <a:ext cx="2333625" cy="463941"/>
          </a:xfrm>
          <a:prstGeom xmlns:a="http://schemas.openxmlformats.org/drawingml/2006/main" prst="rect">
            <a:avLst/>
          </a:prstGeom>
        </p:spPr>
      </p:pic>
      <p:sp>
        <p:nvSpPr>
          <p:cNvPr id="2" name="department footer">
            <a:extLst xmlns:a="http://schemas.openxmlformats.org/drawingml/2006/main">
              <a:ext uri="{FF2B5EF4-FFF2-40B4-BE49-F238E27FC236}">
                <a16:creationId xmlns:a16="http://schemas.microsoft.com/office/drawing/2014/main" id="{7C70D840-6294-4991-82DB-740B7BBA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483C6-7085-45BF-A2DE-FD6312E9B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6f0ad20cd490f"/>
          <a:stretch xmlns:a="http://schemas.openxmlformats.org/drawingml/2006/main"/>
        </p:blipFill>
        <p:spPr>
          <a:xfrm xmlns:a="http://schemas.openxmlformats.org/drawingml/2006/main">
            <a:off x="0" y="5734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947470-1987-4473-B706-D0C7181F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438D02-4781-43D2-A043-4CE385CB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r"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1EFE53-C736-430D-A84C-A07CA8F0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15  |  SOURCES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143D22-D711-45CD-A33B-446362E4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8" name="title rule">
            <a:extLst xmlns:a="http://schemas.openxmlformats.org/drawingml/2006/main">
              <a:ext uri="{FF2B5EF4-FFF2-40B4-BE49-F238E27FC236}">
                <a16:creationId xmlns:a16="http://schemas.microsoft.com/office/drawing/2014/main" id="{97073A4C-8E7C-4197-991C-821DA964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509FC86-684E-4D00-BB08-453D699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Research papers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3AD3DF-E190-42C0-AF57-A7CE705E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[1] H. S. Anderson and P. Roth, “EMBER: An Open Dataset for Training Static PE Malware Machine Learning Models,” arXiv:1804.04637, 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[2] E. Raff et al., “Malware Detection by Eating a Whole EXE,” arXiv:1710.09435, 2017.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[3] A. Shalaginov et al., “Machine Learning Aided Static Malware Analysis: A Survey and Tutorial,” arXiv:1808.01201, 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[4] X. Ling et al., “Adversarial Attacks Against Windows PE Malware Detection: A Survey of the State of the Art,” Computers &amp; Security, vol. 128, 2023. DOI: 10.1016/j.cose.2023.103134.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2D5CF4E-201D-4C15-82D2-EB319AD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559C7"/>
                </a:solidFill>
                <a:latin typeface="Times New Roman"/>
                <a:ea typeface="Times New Roman"/>
                <a:cs typeface="Times New Roman"/>
              </a:rPr>
              <a:t>Project documentation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01CBE5-726D-43B3-89DC-8B4BAC68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README.md  •  docs/ARCHITECTURE.md  •  docs/FEATURES.md  •  docs/MODEL_EVALUATION.md  •  docs/API.md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CB1955-D3FE-4F38-8DB6-226B70E9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02447"/>
                </a:solidFill>
                <a:latin typeface="Times New Roman"/>
                <a:ea typeface="Times New Roman"/>
                <a:cs typeface="Times New Roman"/>
              </a:rPr>
              <a:t>IntelliStatic supports static triage. Review the evidence before making a decision.</a:t>
            </a:r>
          </a:p>
        </p:txBody>
      </p:sp>
    </p:spTree>
    <p:extLst>
      <p:ext uri="{BB962C8B-B14F-4D97-AF65-F5344CB8AC3E}">
        <p14:creationId xmlns:p14="http://schemas.microsoft.com/office/powerpoint/2010/main" val="456144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2026-10-10T02:28:17.3920000Z</dcterms:created>
  <dcterms:modified xsi:type="dcterms:W3CDTF">2026-10-10T02:28:17.3920000Z</dcterms:modified>
</coreProperties>
</file>